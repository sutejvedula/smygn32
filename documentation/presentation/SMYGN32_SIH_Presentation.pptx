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705600" cy="89916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3" d="100"/>
          <a:sy n="83" d="100"/>
        </p:scale>
        <p:origin x="408" y="5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05760" cy="449580"/>
          </a:xfrm>
          <a:prstGeom prst="rect">
            <a:avLst/>
          </a:prstGeom>
        </p:spPr>
        <p:txBody>
          <a:bodyPr vert="horz" lIns="89684" tIns="44843" rIns="89684" bIns="44843"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798288" y="0"/>
            <a:ext cx="2905760" cy="449580"/>
          </a:xfrm>
          <a:prstGeom prst="rect">
            <a:avLst/>
          </a:prstGeom>
        </p:spPr>
        <p:txBody>
          <a:bodyPr vert="horz" wrap="square" lIns="89684" tIns="44843" rIns="89684" bIns="44843" numCol="1" anchor="t" anchorCtr="0" compatLnSpc="1">
            <a:prstTxWarp prst="textNoShape">
              <a:avLst/>
            </a:prstTxWarp>
          </a:bodyPr>
          <a:lstStyle>
            <a:lvl1pPr algn="r">
              <a:defRPr sz="1200"/>
            </a:lvl1pPr>
          </a:lstStyle>
          <a:p>
            <a:fld id="{C4D5ADD5-2BBC-4A94-8F86-D9013941F742}" type="datetimeFigureOut">
              <a:rPr lang="en-US"/>
              <a:pPr/>
              <a:t>9/5/2026</a:t>
            </a:fld>
            <a:endParaRPr lang="en-US"/>
          </a:p>
        </p:txBody>
      </p:sp>
      <p:sp>
        <p:nvSpPr>
          <p:cNvPr id="4" name="Slide Image Placeholder 3"/>
          <p:cNvSpPr>
            <a:spLocks noGrp="1" noRot="1" noChangeAspect="1"/>
          </p:cNvSpPr>
          <p:nvPr>
            <p:ph type="sldImg" idx="2"/>
          </p:nvPr>
        </p:nvSpPr>
        <p:spPr>
          <a:xfrm>
            <a:off x="355600" y="674688"/>
            <a:ext cx="5994400" cy="3371850"/>
          </a:xfrm>
          <a:prstGeom prst="rect">
            <a:avLst/>
          </a:prstGeom>
          <a:noFill/>
          <a:ln w="12700">
            <a:solidFill>
              <a:prstClr val="black"/>
            </a:solidFill>
          </a:ln>
        </p:spPr>
        <p:txBody>
          <a:bodyPr vert="horz" lIns="89684" tIns="44843" rIns="89684" bIns="44843" rtlCol="0" anchor="ctr"/>
          <a:lstStyle/>
          <a:p>
            <a:pPr lvl="0"/>
            <a:endParaRPr lang="en-US" noProof="0"/>
          </a:p>
        </p:txBody>
      </p:sp>
      <p:sp>
        <p:nvSpPr>
          <p:cNvPr id="5" name="Notes Placeholder 4"/>
          <p:cNvSpPr>
            <a:spLocks noGrp="1"/>
          </p:cNvSpPr>
          <p:nvPr>
            <p:ph type="body" sz="quarter" idx="3"/>
          </p:nvPr>
        </p:nvSpPr>
        <p:spPr>
          <a:xfrm>
            <a:off x="670560" y="4271010"/>
            <a:ext cx="5364480" cy="4046220"/>
          </a:xfrm>
          <a:prstGeom prst="rect">
            <a:avLst/>
          </a:prstGeom>
        </p:spPr>
        <p:txBody>
          <a:bodyPr vert="horz" lIns="89684" tIns="44843" rIns="89684" bIns="4484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540459"/>
            <a:ext cx="2905760" cy="449580"/>
          </a:xfrm>
          <a:prstGeom prst="rect">
            <a:avLst/>
          </a:prstGeom>
        </p:spPr>
        <p:txBody>
          <a:bodyPr vert="horz" lIns="89684" tIns="44843" rIns="89684" bIns="44843"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798288" y="8540459"/>
            <a:ext cx="2905760" cy="449580"/>
          </a:xfrm>
          <a:prstGeom prst="rect">
            <a:avLst/>
          </a:prstGeom>
        </p:spPr>
        <p:txBody>
          <a:bodyPr vert="horz" wrap="square" lIns="89684" tIns="44843" rIns="89684" bIns="44843"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55600" y="674688"/>
            <a:ext cx="5994400" cy="3371850"/>
          </a:xfrm>
          <a:noFill/>
          <a:ln>
            <a:solidFill>
              <a:srgbClr val="000000"/>
            </a:solidFill>
            <a:miter lim="800000"/>
            <a:headEnd/>
            <a:tailEnd/>
          </a:ln>
        </p:spPr>
        <p:txBody>
          <a:bodyPr/>
          <a:lstStyle/>
          <a:p>
            <a:endParaRPr lang="en-IN"/>
          </a:p>
        </p:txBody>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55600" y="674688"/>
            <a:ext cx="5994400" cy="337185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55600" y="674688"/>
            <a:ext cx="5994400" cy="337185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defTabSz="448424">
              <a:defRPr/>
            </a:pPr>
            <a:fld id="{0CA7B74D-3791-4AC6-8451-F10DBCCCDD9A}" type="slidenum">
              <a:rPr lang="en-US">
                <a:solidFill>
                  <a:prstClr val="black"/>
                </a:solidFill>
              </a:rPr>
              <a:pPr defTabSz="448424">
                <a:defRPr/>
              </a:pPr>
              <a:t>4</a:t>
            </a:fld>
            <a:endParaRPr lang="en-US">
              <a:solidFill>
                <a:prstClr val="black"/>
              </a:solidFill>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55600" y="674688"/>
            <a:ext cx="5994400" cy="337185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defTabSz="448424">
              <a:defRPr/>
            </a:pPr>
            <a:fld id="{0CA7B74D-3791-4AC6-8451-F10DBCCCDD9A}" type="slidenum">
              <a:rPr lang="en-US">
                <a:solidFill>
                  <a:prstClr val="black"/>
                </a:solidFill>
              </a:rPr>
              <a:pPr defTabSz="448424">
                <a:defRPr/>
              </a:pPr>
              <a:t>5</a:t>
            </a:fld>
            <a:endParaRPr lang="en-US">
              <a:solidFill>
                <a:prstClr val="black"/>
              </a:solidFill>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55600" y="674688"/>
            <a:ext cx="5994400" cy="337185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defTabSz="448424">
              <a:defRPr/>
            </a:pPr>
            <a:fld id="{0CA7B74D-3791-4AC6-8451-F10DBCCCDD9A}" type="slidenum">
              <a:rPr lang="en-US">
                <a:solidFill>
                  <a:prstClr val="black"/>
                </a:solidFill>
              </a:rPr>
              <a:pPr defTabSz="448424">
                <a:defRPr/>
              </a:pPr>
              <a:t>6</a:t>
            </a:fld>
            <a:endParaRPr lang="en-US">
              <a:solidFill>
                <a:prstClr val="black"/>
              </a:solidFill>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9/5/2026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9/5/2026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9/5/2026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9/5/2026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hyperlink" Target="https://eddyhkchiu.github.io/v2vllm.github.io/" TargetMode="External"/><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ieeexplore.ieee.org/stamp/stamp.jsp?tp=&amp;arnumber=11604261/" TargetMode="External"/><Relationship Id="rId4" Type="http://schemas.openxmlformats.org/officeDocument/2006/relationships/hyperlink" Target="https://ieeexplore.ieee.org/stamp/stamp.jsp?tp=&amp;arnumber=1144877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563557"/>
          </a:xfrm>
          <a:prstGeom prst="rect">
            <a:avLst/>
          </a:prstGeom>
          <a:noFill/>
        </p:spPr>
        <p:txBody>
          <a:bodyPr wrap="square" rtlCol="0">
            <a:spAutoFit/>
          </a:bodyPr>
          <a:lstStyle/>
          <a:p>
            <a:endParaRPr lang="en-US" dirty="0"/>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a:t>
            </a:r>
            <a:r>
              <a:rPr lang="en-US" sz="2400" b="1" dirty="0"/>
              <a:t>26007</a:t>
            </a:r>
            <a:r>
              <a:rPr lang="en-IN" sz="2400" b="1" dirty="0"/>
              <a:t>​</a:t>
            </a:r>
            <a:endParaRPr lang="en-US" sz="2400" b="1"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 </a:t>
            </a:r>
            <a:r>
              <a:rPr lang="en-US" sz="2000" b="1" dirty="0">
                <a:latin typeface="Arial" panose="020B0604020202020204" pitchFamily="34" charset="0"/>
                <a:cs typeface="Arial" panose="020B0604020202020204" pitchFamily="34" charset="0"/>
              </a:rPr>
              <a:t>s</a:t>
            </a:r>
            <a:r>
              <a:rPr lang="en-US" sz="2000" b="1" dirty="0"/>
              <a:t>afe and  Efficient Operation of Mine Vehicles in Fog and    Low-Visibility Conditions in Open Cast Iron Ore Mines.</a:t>
            </a:r>
            <a:endParaRPr lang="en-US" sz="2000" b="1"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 </a:t>
            </a:r>
            <a:r>
              <a:rPr lang="en-US" sz="2400" b="1" dirty="0"/>
              <a:t>Smart Automation</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Hardware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 </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 SMYGN32</a:t>
            </a:r>
            <a:endParaRPr lang="en-IN" sz="2400" b="1"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D7ECE2A-CA47-C2E1-BE1F-C48C4446143F}"/>
              </a:ext>
            </a:extLst>
          </p:cNvPr>
          <p:cNvPicPr>
            <a:picLocks noChangeAspect="1"/>
          </p:cNvPicPr>
          <p:nvPr/>
        </p:nvPicPr>
        <p:blipFill>
          <a:blip r:embed="rId3"/>
          <a:stretch>
            <a:fillRect/>
          </a:stretch>
        </p:blipFill>
        <p:spPr>
          <a:xfrm>
            <a:off x="9718082" y="-18125"/>
            <a:ext cx="2406900" cy="12292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501361" y="-221726"/>
            <a:ext cx="8420275" cy="1143000"/>
          </a:xfrm>
        </p:spPr>
        <p:txBody>
          <a:bodyPr/>
          <a:lstStyle/>
          <a:p>
            <a:br>
              <a:rPr lang="en-IN" sz="3600" dirty="0"/>
            </a:br>
            <a:br>
              <a:rPr lang="en-IN" sz="3600" dirty="0"/>
            </a:br>
            <a:r>
              <a:rPr lang="en-IN" sz="2800" b="1" dirty="0"/>
              <a:t>SMYGN32: V2V-Enabled Collision and Trajectory Risk Assessment for Safe Mine Vehicle Operation</a:t>
            </a:r>
            <a:br>
              <a:rPr lang="en-IN" sz="2800" dirty="0"/>
            </a:br>
            <a:endParaRPr lang="en-IN" sz="2800" dirty="0"/>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a:p>
        </p:txBody>
      </p:sp>
      <p:sp>
        <p:nvSpPr>
          <p:cNvPr id="3" name="TextBox 2">
            <a:extLst>
              <a:ext uri="{FF2B5EF4-FFF2-40B4-BE49-F238E27FC236}">
                <a16:creationId xmlns:a16="http://schemas.microsoft.com/office/drawing/2014/main" id="{E8096090-9847-BE62-420D-5C660D036724}"/>
              </a:ext>
            </a:extLst>
          </p:cNvPr>
          <p:cNvSpPr txBox="1"/>
          <p:nvPr/>
        </p:nvSpPr>
        <p:spPr>
          <a:xfrm>
            <a:off x="479322" y="1395246"/>
            <a:ext cx="4168878" cy="1477328"/>
          </a:xfrm>
          <a:prstGeom prst="rect">
            <a:avLst/>
          </a:prstGeom>
          <a:noFill/>
        </p:spPr>
        <p:txBody>
          <a:bodyPr wrap="square" rtlCol="0">
            <a:spAutoFit/>
          </a:bodyPr>
          <a:lstStyle/>
          <a:p>
            <a:r>
              <a:rPr lang="en-IN" b="1" u="sng" dirty="0"/>
              <a:t>PROBLEM</a:t>
            </a:r>
            <a:r>
              <a:rPr lang="en-IN" b="1" i="1" u="sng" dirty="0"/>
              <a:t>- </a:t>
            </a:r>
            <a:r>
              <a:rPr lang="en-IN" dirty="0"/>
              <a:t>Monsoon fog at Bailadila cuts haul-road visibility to 3–5m, forcing HEMM dumpers to stop or risk collision. Optical aids fail in fog, causing production losses and safety risk</a:t>
            </a:r>
          </a:p>
        </p:txBody>
      </p:sp>
      <p:sp>
        <p:nvSpPr>
          <p:cNvPr id="13" name="TextBox 12">
            <a:extLst>
              <a:ext uri="{FF2B5EF4-FFF2-40B4-BE49-F238E27FC236}">
                <a16:creationId xmlns:a16="http://schemas.microsoft.com/office/drawing/2014/main" id="{71A76AB4-1722-7E58-998E-596F939AF5C4}"/>
              </a:ext>
            </a:extLst>
          </p:cNvPr>
          <p:cNvSpPr txBox="1"/>
          <p:nvPr/>
        </p:nvSpPr>
        <p:spPr>
          <a:xfrm>
            <a:off x="5814890" y="1373541"/>
            <a:ext cx="6235596" cy="1200329"/>
          </a:xfrm>
          <a:prstGeom prst="rect">
            <a:avLst/>
          </a:prstGeom>
          <a:noFill/>
        </p:spPr>
        <p:txBody>
          <a:bodyPr wrap="square" rtlCol="0">
            <a:spAutoFit/>
          </a:bodyPr>
          <a:lstStyle/>
          <a:p>
            <a:r>
              <a:rPr lang="en-IN" b="1" u="sng" dirty="0"/>
              <a:t>OUR SOLUTION –</a:t>
            </a:r>
          </a:p>
          <a:p>
            <a:r>
              <a:rPr lang="en-IN" dirty="0"/>
              <a:t>SMYGN32 fuses LiDAR/radar/thermal sensing with V2V communication and AI module  reasoning to give drivers real-time collision warnings, independent of visibility.</a:t>
            </a:r>
          </a:p>
        </p:txBody>
      </p:sp>
      <p:sp>
        <p:nvSpPr>
          <p:cNvPr id="17" name="TextBox 16">
            <a:extLst>
              <a:ext uri="{FF2B5EF4-FFF2-40B4-BE49-F238E27FC236}">
                <a16:creationId xmlns:a16="http://schemas.microsoft.com/office/drawing/2014/main" id="{A0160406-84F7-7CE9-9CBA-2BBC1D862DD5}"/>
              </a:ext>
            </a:extLst>
          </p:cNvPr>
          <p:cNvSpPr txBox="1"/>
          <p:nvPr/>
        </p:nvSpPr>
        <p:spPr>
          <a:xfrm>
            <a:off x="141514" y="2915984"/>
            <a:ext cx="7686547" cy="2031325"/>
          </a:xfrm>
          <a:prstGeom prst="rect">
            <a:avLst/>
          </a:prstGeom>
          <a:noFill/>
        </p:spPr>
        <p:txBody>
          <a:bodyPr wrap="square" rtlCol="0">
            <a:spAutoFit/>
          </a:bodyPr>
          <a:lstStyle/>
          <a:p>
            <a:r>
              <a:rPr lang="en-IN" b="1" u="sng" dirty="0"/>
              <a:t>Innovation/Uniqueness:</a:t>
            </a:r>
            <a:endParaRPr lang="en-IN" u="sng" dirty="0"/>
          </a:p>
          <a:p>
            <a:pPr marL="285750" lvl="0" indent="-285750">
              <a:buFont typeface="Arial" panose="020B0604020202020204" pitchFamily="34" charset="0"/>
              <a:buChar char="•"/>
            </a:pPr>
            <a:r>
              <a:rPr lang="en-IN" dirty="0"/>
              <a:t>Works in fog using LiDAR, radar, thermal sensing not optical</a:t>
            </a:r>
          </a:p>
          <a:p>
            <a:pPr marL="285750" lvl="0" indent="-285750">
              <a:buFont typeface="Arial" panose="020B0604020202020204" pitchFamily="34" charset="0"/>
              <a:buChar char="•"/>
            </a:pPr>
            <a:r>
              <a:rPr lang="en-IN" dirty="0"/>
              <a:t>V2V shares hazard data across trucks, not just one truck's view</a:t>
            </a:r>
          </a:p>
          <a:p>
            <a:pPr marL="285750" lvl="0" indent="-285750">
              <a:buFont typeface="Arial" panose="020B0604020202020204" pitchFamily="34" charset="0"/>
              <a:buChar char="•"/>
            </a:pPr>
            <a:r>
              <a:rPr lang="en-IN" dirty="0"/>
              <a:t>Fully on-device AI on Jetson, no cloud dependency</a:t>
            </a:r>
          </a:p>
          <a:p>
            <a:pPr marL="285750" lvl="0" indent="-285750">
              <a:buFont typeface="Arial" panose="020B0604020202020204" pitchFamily="34" charset="0"/>
              <a:buChar char="•"/>
            </a:pPr>
            <a:r>
              <a:rPr lang="en-IN" dirty="0"/>
              <a:t>Real-time TTC engine, auto-alerts below 2.5s</a:t>
            </a:r>
          </a:p>
          <a:p>
            <a:pPr marL="285750" lvl="0" indent="-285750">
              <a:buFont typeface="Arial" panose="020B0604020202020204" pitchFamily="34" charset="0"/>
              <a:buChar char="•"/>
            </a:pPr>
            <a:r>
              <a:rPr lang="en-IN" dirty="0" err="1"/>
              <a:t>LoRA</a:t>
            </a:r>
            <a:r>
              <a:rPr lang="en-IN" dirty="0"/>
              <a:t>-tuned LLM gives plain-language voice/display alerts</a:t>
            </a:r>
          </a:p>
          <a:p>
            <a:pPr marL="285750" indent="-285750">
              <a:buFont typeface="Arial" panose="020B0604020202020204" pitchFamily="34" charset="0"/>
              <a:buChar char="•"/>
            </a:pPr>
            <a:endParaRPr lang="en-IN" dirty="0"/>
          </a:p>
        </p:txBody>
      </p:sp>
      <p:pic>
        <p:nvPicPr>
          <p:cNvPr id="22" name="Picture 21">
            <a:extLst>
              <a:ext uri="{FF2B5EF4-FFF2-40B4-BE49-F238E27FC236}">
                <a16:creationId xmlns:a16="http://schemas.microsoft.com/office/drawing/2014/main" id="{3CAD6BD1-D439-187B-8A79-62FC5587BF59}"/>
              </a:ext>
            </a:extLst>
          </p:cNvPr>
          <p:cNvPicPr>
            <a:picLocks noChangeAspect="1"/>
          </p:cNvPicPr>
          <p:nvPr/>
        </p:nvPicPr>
        <p:blipFill>
          <a:blip r:embed="rId3"/>
          <a:stretch>
            <a:fillRect/>
          </a:stretch>
        </p:blipFill>
        <p:spPr>
          <a:xfrm rot="20743438">
            <a:off x="144282" y="1391848"/>
            <a:ext cx="370981" cy="370981"/>
          </a:xfrm>
          <a:prstGeom prst="rect">
            <a:avLst/>
          </a:prstGeom>
        </p:spPr>
      </p:pic>
      <p:pic>
        <p:nvPicPr>
          <p:cNvPr id="24" name="Picture 23">
            <a:extLst>
              <a:ext uri="{FF2B5EF4-FFF2-40B4-BE49-F238E27FC236}">
                <a16:creationId xmlns:a16="http://schemas.microsoft.com/office/drawing/2014/main" id="{9F805033-E71B-A5D5-27EF-56F46FFFFFA6}"/>
              </a:ext>
            </a:extLst>
          </p:cNvPr>
          <p:cNvPicPr>
            <a:picLocks noChangeAspect="1"/>
          </p:cNvPicPr>
          <p:nvPr/>
        </p:nvPicPr>
        <p:blipFill>
          <a:blip r:embed="rId4"/>
          <a:stretch>
            <a:fillRect/>
          </a:stretch>
        </p:blipFill>
        <p:spPr>
          <a:xfrm>
            <a:off x="5407742" y="1273443"/>
            <a:ext cx="529260" cy="529260"/>
          </a:xfrm>
          <a:prstGeom prst="rect">
            <a:avLst/>
          </a:prstGeom>
        </p:spPr>
      </p:pic>
      <p:pic>
        <p:nvPicPr>
          <p:cNvPr id="26" name="Picture 25">
            <a:extLst>
              <a:ext uri="{FF2B5EF4-FFF2-40B4-BE49-F238E27FC236}">
                <a16:creationId xmlns:a16="http://schemas.microsoft.com/office/drawing/2014/main" id="{D63B2DEA-CAC0-D6E1-B694-373C9FF38090}"/>
              </a:ext>
            </a:extLst>
          </p:cNvPr>
          <p:cNvPicPr>
            <a:picLocks noChangeAspect="1"/>
          </p:cNvPicPr>
          <p:nvPr/>
        </p:nvPicPr>
        <p:blipFill>
          <a:blip r:embed="rId5"/>
          <a:stretch>
            <a:fillRect/>
          </a:stretch>
        </p:blipFill>
        <p:spPr>
          <a:xfrm>
            <a:off x="182235" y="4345001"/>
            <a:ext cx="11058525" cy="2047875"/>
          </a:xfrm>
          <a:prstGeom prst="rect">
            <a:avLst/>
          </a:prstGeom>
        </p:spPr>
      </p:pic>
      <p:pic>
        <p:nvPicPr>
          <p:cNvPr id="34" name="Picture 33">
            <a:extLst>
              <a:ext uri="{FF2B5EF4-FFF2-40B4-BE49-F238E27FC236}">
                <a16:creationId xmlns:a16="http://schemas.microsoft.com/office/drawing/2014/main" id="{0DA8151B-3314-3CD7-1A3E-183744072DA1}"/>
              </a:ext>
            </a:extLst>
          </p:cNvPr>
          <p:cNvPicPr>
            <a:picLocks noChangeAspect="1"/>
          </p:cNvPicPr>
          <p:nvPr/>
        </p:nvPicPr>
        <p:blipFill>
          <a:blip r:embed="rId6"/>
          <a:stretch>
            <a:fillRect/>
          </a:stretch>
        </p:blipFill>
        <p:spPr>
          <a:xfrm>
            <a:off x="6931742" y="2548927"/>
            <a:ext cx="4309018" cy="2153239"/>
          </a:xfrm>
          <a:prstGeom prst="rect">
            <a:avLst/>
          </a:prstGeom>
        </p:spPr>
      </p:pic>
      <p:pic>
        <p:nvPicPr>
          <p:cNvPr id="4" name="Picture 3">
            <a:extLst>
              <a:ext uri="{FF2B5EF4-FFF2-40B4-BE49-F238E27FC236}">
                <a16:creationId xmlns:a16="http://schemas.microsoft.com/office/drawing/2014/main" id="{1BB1BCC9-3783-A65F-1407-CF5413678EF2}"/>
              </a:ext>
            </a:extLst>
          </p:cNvPr>
          <p:cNvPicPr>
            <a:picLocks noChangeAspect="1"/>
          </p:cNvPicPr>
          <p:nvPr/>
        </p:nvPicPr>
        <p:blipFill>
          <a:blip r:embed="rId7"/>
          <a:stretch>
            <a:fillRect/>
          </a:stretch>
        </p:blipFill>
        <p:spPr>
          <a:xfrm>
            <a:off x="555276" y="266889"/>
            <a:ext cx="862960" cy="849262"/>
          </a:xfrm>
          <a:prstGeom prst="rect">
            <a:avLst/>
          </a:prstGeom>
        </p:spPr>
      </p:pic>
      <p:pic>
        <p:nvPicPr>
          <p:cNvPr id="5" name="Picture 4">
            <a:extLst>
              <a:ext uri="{FF2B5EF4-FFF2-40B4-BE49-F238E27FC236}">
                <a16:creationId xmlns:a16="http://schemas.microsoft.com/office/drawing/2014/main" id="{214F6939-5B32-DF1B-53E0-86B6888749A4}"/>
              </a:ext>
            </a:extLst>
          </p:cNvPr>
          <p:cNvPicPr>
            <a:picLocks noChangeAspect="1"/>
          </p:cNvPicPr>
          <p:nvPr/>
        </p:nvPicPr>
        <p:blipFill>
          <a:blip r:embed="rId8"/>
          <a:stretch>
            <a:fillRect/>
          </a:stretch>
        </p:blipFill>
        <p:spPr>
          <a:xfrm>
            <a:off x="9785099" y="-37073"/>
            <a:ext cx="2406900" cy="12292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pic>
        <p:nvPicPr>
          <p:cNvPr id="4" name="Picture 3">
            <a:extLst>
              <a:ext uri="{FF2B5EF4-FFF2-40B4-BE49-F238E27FC236}">
                <a16:creationId xmlns:a16="http://schemas.microsoft.com/office/drawing/2014/main" id="{B10B4CD7-BF70-B356-5852-43C5336BD820}"/>
              </a:ext>
            </a:extLst>
          </p:cNvPr>
          <p:cNvPicPr>
            <a:picLocks noChangeAspect="1"/>
          </p:cNvPicPr>
          <p:nvPr/>
        </p:nvPicPr>
        <p:blipFill>
          <a:blip r:embed="rId3"/>
          <a:stretch>
            <a:fillRect/>
          </a:stretch>
        </p:blipFill>
        <p:spPr>
          <a:xfrm>
            <a:off x="524221" y="246113"/>
            <a:ext cx="862960" cy="849262"/>
          </a:xfrm>
          <a:prstGeom prst="rect">
            <a:avLst/>
          </a:prstGeom>
        </p:spPr>
      </p:pic>
      <p:pic>
        <p:nvPicPr>
          <p:cNvPr id="3" name="Picture 2">
            <a:extLst>
              <a:ext uri="{FF2B5EF4-FFF2-40B4-BE49-F238E27FC236}">
                <a16:creationId xmlns:a16="http://schemas.microsoft.com/office/drawing/2014/main" id="{86732D88-B525-631B-419D-8119472C748F}"/>
              </a:ext>
            </a:extLst>
          </p:cNvPr>
          <p:cNvPicPr>
            <a:picLocks noChangeAspect="1"/>
          </p:cNvPicPr>
          <p:nvPr/>
        </p:nvPicPr>
        <p:blipFill>
          <a:blip r:embed="rId4"/>
          <a:stretch>
            <a:fillRect/>
          </a:stretch>
        </p:blipFill>
        <p:spPr>
          <a:xfrm>
            <a:off x="9782397" y="-47625"/>
            <a:ext cx="2406900" cy="1229275"/>
          </a:xfrm>
          <a:prstGeom prst="rect">
            <a:avLst/>
          </a:prstGeom>
        </p:spPr>
      </p:pic>
      <p:pic>
        <p:nvPicPr>
          <p:cNvPr id="8" name="Picture 7">
            <a:extLst>
              <a:ext uri="{FF2B5EF4-FFF2-40B4-BE49-F238E27FC236}">
                <a16:creationId xmlns:a16="http://schemas.microsoft.com/office/drawing/2014/main" id="{0816DD40-0934-3D26-89BD-7F02FF1D73B7}"/>
              </a:ext>
            </a:extLst>
          </p:cNvPr>
          <p:cNvPicPr>
            <a:picLocks noChangeAspect="1"/>
          </p:cNvPicPr>
          <p:nvPr/>
        </p:nvPicPr>
        <p:blipFill>
          <a:blip r:embed="rId5"/>
          <a:stretch>
            <a:fillRect/>
          </a:stretch>
        </p:blipFill>
        <p:spPr>
          <a:xfrm>
            <a:off x="154200" y="1096699"/>
            <a:ext cx="11850987" cy="51717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9859FA71-F513-08E6-79E6-B308886B355E}"/>
              </a:ext>
            </a:extLst>
          </p:cNvPr>
          <p:cNvSpPr txBox="1"/>
          <p:nvPr/>
        </p:nvSpPr>
        <p:spPr>
          <a:xfrm>
            <a:off x="182291" y="1359451"/>
            <a:ext cx="6042286" cy="2831544"/>
          </a:xfrm>
          <a:prstGeom prst="rect">
            <a:avLst/>
          </a:prstGeom>
          <a:noFill/>
        </p:spPr>
        <p:txBody>
          <a:bodyPr wrap="square" rtlCol="0">
            <a:spAutoFit/>
          </a:bodyPr>
          <a:lstStyle/>
          <a:p>
            <a:r>
              <a:rPr lang="en-IN" sz="2400" b="1" u="sng" dirty="0"/>
              <a:t>Feasibility Analysis</a:t>
            </a:r>
          </a:p>
          <a:p>
            <a:pPr lvl="0"/>
            <a:r>
              <a:rPr lang="en-IN" sz="1700" b="1" dirty="0"/>
              <a:t>Mature Hardware:</a:t>
            </a:r>
            <a:r>
              <a:rPr lang="en-IN" sz="1700" dirty="0"/>
              <a:t> Proven, off-the-shelf </a:t>
            </a:r>
            <a:r>
              <a:rPr lang="en-IN" sz="1700" b="1" dirty="0"/>
              <a:t>LiDAR, radar, thermal camera, GPS/IMU, and Jetson Orin Nano</a:t>
            </a:r>
            <a:r>
              <a:rPr lang="en-IN" sz="1700" dirty="0"/>
              <a:t>.</a:t>
            </a:r>
          </a:p>
          <a:p>
            <a:pPr lvl="0"/>
            <a:r>
              <a:rPr lang="en-IN" sz="1700" b="1" dirty="0"/>
              <a:t>Reliable Communication:</a:t>
            </a:r>
            <a:r>
              <a:rPr lang="en-IN" sz="1700" dirty="0"/>
              <a:t> </a:t>
            </a:r>
            <a:r>
              <a:rPr lang="en-IN" sz="1700" b="1" dirty="0"/>
              <a:t>LoRa</a:t>
            </a:r>
            <a:r>
              <a:rPr lang="en-IN" sz="1700" dirty="0"/>
              <a:t> provides long-range, low-power communication for mine-scale deployment.</a:t>
            </a:r>
          </a:p>
          <a:p>
            <a:pPr lvl="0"/>
            <a:r>
              <a:rPr lang="en-IN" sz="1700" b="1" dirty="0"/>
              <a:t>Proven Algorithms:</a:t>
            </a:r>
            <a:r>
              <a:rPr lang="en-IN" sz="1700" dirty="0"/>
              <a:t> </a:t>
            </a:r>
            <a:r>
              <a:rPr lang="en-IN" sz="1700" b="1" dirty="0"/>
              <a:t>Sensor fusion, object detection, and TTC</a:t>
            </a:r>
            <a:r>
              <a:rPr lang="en-IN" sz="1700" dirty="0"/>
              <a:t> are well-established techniques.</a:t>
            </a:r>
          </a:p>
          <a:p>
            <a:pPr lvl="0"/>
            <a:r>
              <a:rPr lang="en-IN" sz="1700" b="1" dirty="0"/>
              <a:t>Edge Processing:</a:t>
            </a:r>
            <a:r>
              <a:rPr lang="en-IN" sz="1700" dirty="0"/>
              <a:t> </a:t>
            </a:r>
            <a:r>
              <a:rPr lang="en-IN" sz="1700" b="1" dirty="0"/>
              <a:t>Jetson processes data locally</a:t>
            </a:r>
            <a:r>
              <a:rPr lang="en-IN" sz="1700" dirty="0"/>
              <a:t>, enabling real-time decisions without cloud or internet.</a:t>
            </a:r>
          </a:p>
          <a:p>
            <a:endParaRPr lang="en-IN" dirty="0"/>
          </a:p>
        </p:txBody>
      </p:sp>
      <p:graphicFrame>
        <p:nvGraphicFramePr>
          <p:cNvPr id="8" name="Table 7">
            <a:extLst>
              <a:ext uri="{FF2B5EF4-FFF2-40B4-BE49-F238E27FC236}">
                <a16:creationId xmlns:a16="http://schemas.microsoft.com/office/drawing/2014/main" id="{BB8CF0ED-506A-6D18-BA0C-3047696F30A9}"/>
              </a:ext>
            </a:extLst>
          </p:cNvPr>
          <p:cNvGraphicFramePr>
            <a:graphicFrameLocks noGrp="1"/>
          </p:cNvGraphicFramePr>
          <p:nvPr>
            <p:extLst>
              <p:ext uri="{D42A27DB-BD31-4B8C-83A1-F6EECF244321}">
                <p14:modId xmlns:p14="http://schemas.microsoft.com/office/powerpoint/2010/main" val="2796138655"/>
              </p:ext>
            </p:extLst>
          </p:nvPr>
        </p:nvGraphicFramePr>
        <p:xfrm>
          <a:off x="161901" y="4320221"/>
          <a:ext cx="11868196" cy="1737360"/>
        </p:xfrm>
        <a:graphic>
          <a:graphicData uri="http://schemas.openxmlformats.org/drawingml/2006/table">
            <a:tbl>
              <a:tblPr>
                <a:tableStyleId>{5C22544A-7EE6-4342-B048-85BDC9FD1C3A}</a:tableStyleId>
              </a:tblPr>
              <a:tblGrid>
                <a:gridCol w="5934098">
                  <a:extLst>
                    <a:ext uri="{9D8B030D-6E8A-4147-A177-3AD203B41FA5}">
                      <a16:colId xmlns:a16="http://schemas.microsoft.com/office/drawing/2014/main" val="2980037106"/>
                    </a:ext>
                  </a:extLst>
                </a:gridCol>
                <a:gridCol w="5934098">
                  <a:extLst>
                    <a:ext uri="{9D8B030D-6E8A-4147-A177-3AD203B41FA5}">
                      <a16:colId xmlns:a16="http://schemas.microsoft.com/office/drawing/2014/main" val="1185567418"/>
                    </a:ext>
                  </a:extLst>
                </a:gridCol>
              </a:tblGrid>
              <a:tr h="296678">
                <a:tc>
                  <a:txBody>
                    <a:bodyPr/>
                    <a:lstStyle/>
                    <a:p>
                      <a:pPr>
                        <a:buNone/>
                      </a:pPr>
                      <a:r>
                        <a:rPr lang="en-IN"/>
                        <a:t>⚠️ Challenge</a:t>
                      </a:r>
                    </a:p>
                  </a:txBody>
                  <a:tcPr anchor="ctr"/>
                </a:tc>
                <a:tc>
                  <a:txBody>
                    <a:bodyPr/>
                    <a:lstStyle/>
                    <a:p>
                      <a:pPr>
                        <a:buNone/>
                      </a:pPr>
                      <a:r>
                        <a:rPr lang="en-IN" dirty="0"/>
                        <a:t>✅ Our Approach</a:t>
                      </a:r>
                    </a:p>
                  </a:txBody>
                  <a:tcPr anchor="ctr"/>
                </a:tc>
                <a:extLst>
                  <a:ext uri="{0D108BD9-81ED-4DB2-BD59-A6C34878D82A}">
                    <a16:rowId xmlns:a16="http://schemas.microsoft.com/office/drawing/2014/main" val="363997003"/>
                  </a:ext>
                </a:extLst>
              </a:tr>
              <a:tr h="564278">
                <a:tc>
                  <a:txBody>
                    <a:bodyPr/>
                    <a:lstStyle/>
                    <a:p>
                      <a:pPr>
                        <a:buNone/>
                      </a:pPr>
                      <a:r>
                        <a:rPr lang="en-IN"/>
                        <a:t>📡 LoRa bandwidth is limited</a:t>
                      </a:r>
                    </a:p>
                  </a:txBody>
                  <a:tcPr anchor="ctr"/>
                </a:tc>
                <a:tc>
                  <a:txBody>
                    <a:bodyPr/>
                    <a:lstStyle/>
                    <a:p>
                      <a:pPr>
                        <a:buNone/>
                      </a:pPr>
                      <a:r>
                        <a:rPr lang="en-IN" dirty="0"/>
                        <a:t>Low-latency V2V radio for critical alerts; LoRa for non-urgent data</a:t>
                      </a:r>
                    </a:p>
                  </a:txBody>
                  <a:tcPr anchor="ctr"/>
                </a:tc>
                <a:extLst>
                  <a:ext uri="{0D108BD9-81ED-4DB2-BD59-A6C34878D82A}">
                    <a16:rowId xmlns:a16="http://schemas.microsoft.com/office/drawing/2014/main" val="3303398799"/>
                  </a:ext>
                </a:extLst>
              </a:tr>
              <a:tr h="322444">
                <a:tc>
                  <a:txBody>
                    <a:bodyPr/>
                    <a:lstStyle/>
                    <a:p>
                      <a:pPr>
                        <a:buNone/>
                      </a:pPr>
                      <a:r>
                        <a:rPr lang="en-IN" dirty="0"/>
                        <a:t>🌡️ Jetson heating / processing limits</a:t>
                      </a:r>
                    </a:p>
                  </a:txBody>
                  <a:tcPr anchor="ctr"/>
                </a:tc>
                <a:tc>
                  <a:txBody>
                    <a:bodyPr/>
                    <a:lstStyle/>
                    <a:p>
                      <a:pPr>
                        <a:buNone/>
                      </a:pPr>
                      <a:r>
                        <a:rPr lang="en-IN" dirty="0"/>
                        <a:t>Use optimized, lightweight AI models</a:t>
                      </a:r>
                    </a:p>
                  </a:txBody>
                  <a:tcPr anchor="ctr"/>
                </a:tc>
                <a:extLst>
                  <a:ext uri="{0D108BD9-81ED-4DB2-BD59-A6C34878D82A}">
                    <a16:rowId xmlns:a16="http://schemas.microsoft.com/office/drawing/2014/main" val="3859175340"/>
                  </a:ext>
                </a:extLst>
              </a:tr>
              <a:tr h="322444">
                <a:tc>
                  <a:txBody>
                    <a:bodyPr/>
                    <a:lstStyle/>
                    <a:p>
                      <a:pPr>
                        <a:buNone/>
                      </a:pPr>
                      <a:r>
                        <a:rPr lang="en-IN" dirty="0"/>
                        <a:t>🚨 False alerts may reduce trust</a:t>
                      </a:r>
                    </a:p>
                  </a:txBody>
                  <a:tcPr anchor="ctr"/>
                </a:tc>
                <a:tc>
                  <a:txBody>
                    <a:bodyPr/>
                    <a:lstStyle/>
                    <a:p>
                      <a:pPr>
                        <a:buNone/>
                      </a:pPr>
                      <a:r>
                        <a:rPr lang="en-IN" dirty="0"/>
                        <a:t>Fuse multiple sensors before triggering alerts</a:t>
                      </a:r>
                    </a:p>
                  </a:txBody>
                  <a:tcPr anchor="ctr"/>
                </a:tc>
                <a:extLst>
                  <a:ext uri="{0D108BD9-81ED-4DB2-BD59-A6C34878D82A}">
                    <a16:rowId xmlns:a16="http://schemas.microsoft.com/office/drawing/2014/main" val="297138322"/>
                  </a:ext>
                </a:extLst>
              </a:tr>
            </a:tbl>
          </a:graphicData>
        </a:graphic>
      </p:graphicFrame>
      <p:sp>
        <p:nvSpPr>
          <p:cNvPr id="13" name="TextBox 12">
            <a:extLst>
              <a:ext uri="{FF2B5EF4-FFF2-40B4-BE49-F238E27FC236}">
                <a16:creationId xmlns:a16="http://schemas.microsoft.com/office/drawing/2014/main" id="{7543EA03-A9B5-441D-C7F3-9AA1177B3DE8}"/>
              </a:ext>
            </a:extLst>
          </p:cNvPr>
          <p:cNvSpPr txBox="1"/>
          <p:nvPr/>
        </p:nvSpPr>
        <p:spPr>
          <a:xfrm>
            <a:off x="4229354" y="3882592"/>
            <a:ext cx="6096000" cy="400110"/>
          </a:xfrm>
          <a:prstGeom prst="rect">
            <a:avLst/>
          </a:prstGeom>
          <a:noFill/>
        </p:spPr>
        <p:txBody>
          <a:bodyPr wrap="square">
            <a:spAutoFit/>
          </a:bodyPr>
          <a:lstStyle/>
          <a:p>
            <a:pPr>
              <a:buNone/>
            </a:pPr>
            <a:r>
              <a:rPr lang="en-IN" sz="2000" b="1" u="sng" dirty="0"/>
              <a:t>Challenges &amp; How We Handle Them</a:t>
            </a:r>
          </a:p>
        </p:txBody>
      </p:sp>
      <p:pic>
        <p:nvPicPr>
          <p:cNvPr id="17" name="Picture 16">
            <a:extLst>
              <a:ext uri="{FF2B5EF4-FFF2-40B4-BE49-F238E27FC236}">
                <a16:creationId xmlns:a16="http://schemas.microsoft.com/office/drawing/2014/main" id="{AB833660-DEFE-9436-6B43-81542E658C5A}"/>
              </a:ext>
            </a:extLst>
          </p:cNvPr>
          <p:cNvPicPr>
            <a:picLocks noChangeAspect="1"/>
          </p:cNvPicPr>
          <p:nvPr/>
        </p:nvPicPr>
        <p:blipFill>
          <a:blip r:embed="rId3"/>
          <a:stretch>
            <a:fillRect/>
          </a:stretch>
        </p:blipFill>
        <p:spPr>
          <a:xfrm>
            <a:off x="6616283" y="786178"/>
            <a:ext cx="5042496" cy="1680832"/>
          </a:xfrm>
          <a:prstGeom prst="rect">
            <a:avLst/>
          </a:prstGeom>
        </p:spPr>
      </p:pic>
      <p:sp>
        <p:nvSpPr>
          <p:cNvPr id="19" name="TextBox 18">
            <a:extLst>
              <a:ext uri="{FF2B5EF4-FFF2-40B4-BE49-F238E27FC236}">
                <a16:creationId xmlns:a16="http://schemas.microsoft.com/office/drawing/2014/main" id="{5F2C3A84-C176-3C9B-9AD8-60640DAB2E1C}"/>
              </a:ext>
            </a:extLst>
          </p:cNvPr>
          <p:cNvSpPr txBox="1"/>
          <p:nvPr/>
        </p:nvSpPr>
        <p:spPr>
          <a:xfrm>
            <a:off x="6250200" y="2197370"/>
            <a:ext cx="5697415" cy="1477328"/>
          </a:xfrm>
          <a:prstGeom prst="rect">
            <a:avLst/>
          </a:prstGeom>
          <a:noFill/>
        </p:spPr>
        <p:txBody>
          <a:bodyPr wrap="square" rtlCol="0">
            <a:spAutoFit/>
          </a:bodyPr>
          <a:lstStyle/>
          <a:p>
            <a:r>
              <a:rPr lang="en-IN" dirty="0"/>
              <a:t>LoRa is too slow (about 1 second of latency) and can't push much data, so it just can't keep up with something as time critical as collision avoidance between moving vehicles. For that, you need faster (and pricier) V2V radios that trade cost for speed.</a:t>
            </a:r>
          </a:p>
        </p:txBody>
      </p:sp>
      <p:pic>
        <p:nvPicPr>
          <p:cNvPr id="5" name="Picture 4">
            <a:extLst>
              <a:ext uri="{FF2B5EF4-FFF2-40B4-BE49-F238E27FC236}">
                <a16:creationId xmlns:a16="http://schemas.microsoft.com/office/drawing/2014/main" id="{1EDE3F7F-697A-777A-980F-53729C1F3D37}"/>
              </a:ext>
            </a:extLst>
          </p:cNvPr>
          <p:cNvPicPr>
            <a:picLocks noChangeAspect="1"/>
          </p:cNvPicPr>
          <p:nvPr/>
        </p:nvPicPr>
        <p:blipFill>
          <a:blip r:embed="rId4"/>
          <a:stretch>
            <a:fillRect/>
          </a:stretch>
        </p:blipFill>
        <p:spPr>
          <a:xfrm>
            <a:off x="533221" y="246113"/>
            <a:ext cx="862960" cy="849262"/>
          </a:xfrm>
          <a:prstGeom prst="rect">
            <a:avLst/>
          </a:prstGeom>
        </p:spPr>
      </p:pic>
      <p:pic>
        <p:nvPicPr>
          <p:cNvPr id="3" name="Picture 2">
            <a:extLst>
              <a:ext uri="{FF2B5EF4-FFF2-40B4-BE49-F238E27FC236}">
                <a16:creationId xmlns:a16="http://schemas.microsoft.com/office/drawing/2014/main" id="{6E288C4A-1C63-3B69-A6BF-248386F4FF88}"/>
              </a:ext>
            </a:extLst>
          </p:cNvPr>
          <p:cNvPicPr>
            <a:picLocks noChangeAspect="1"/>
          </p:cNvPicPr>
          <p:nvPr/>
        </p:nvPicPr>
        <p:blipFill>
          <a:blip r:embed="rId5"/>
          <a:stretch>
            <a:fillRect/>
          </a:stretch>
        </p:blipFill>
        <p:spPr>
          <a:xfrm>
            <a:off x="9700019" y="-33159"/>
            <a:ext cx="2406900" cy="1229275"/>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pic>
        <p:nvPicPr>
          <p:cNvPr id="19" name="Picture 18">
            <a:extLst>
              <a:ext uri="{FF2B5EF4-FFF2-40B4-BE49-F238E27FC236}">
                <a16:creationId xmlns:a16="http://schemas.microsoft.com/office/drawing/2014/main" id="{0F7F45E4-F7AD-C907-6A46-243149A2F1D8}"/>
              </a:ext>
            </a:extLst>
          </p:cNvPr>
          <p:cNvPicPr>
            <a:picLocks noChangeAspect="1"/>
          </p:cNvPicPr>
          <p:nvPr/>
        </p:nvPicPr>
        <p:blipFill>
          <a:blip r:embed="rId3"/>
          <a:stretch>
            <a:fillRect/>
          </a:stretch>
        </p:blipFill>
        <p:spPr>
          <a:xfrm>
            <a:off x="0" y="1179965"/>
            <a:ext cx="4399368" cy="4625991"/>
          </a:xfrm>
          <a:prstGeom prst="rect">
            <a:avLst/>
          </a:prstGeom>
        </p:spPr>
      </p:pic>
      <p:sp>
        <p:nvSpPr>
          <p:cNvPr id="20" name="TextBox 19">
            <a:extLst>
              <a:ext uri="{FF2B5EF4-FFF2-40B4-BE49-F238E27FC236}">
                <a16:creationId xmlns:a16="http://schemas.microsoft.com/office/drawing/2014/main" id="{D8510167-1729-9782-861E-B0B24768B55C}"/>
              </a:ext>
            </a:extLst>
          </p:cNvPr>
          <p:cNvSpPr txBox="1"/>
          <p:nvPr/>
        </p:nvSpPr>
        <p:spPr>
          <a:xfrm>
            <a:off x="5014452" y="2828835"/>
            <a:ext cx="6567948" cy="1200329"/>
          </a:xfrm>
          <a:prstGeom prst="rect">
            <a:avLst/>
          </a:prstGeom>
          <a:noFill/>
        </p:spPr>
        <p:txBody>
          <a:bodyPr wrap="square" rtlCol="0">
            <a:spAutoFit/>
          </a:bodyPr>
          <a:lstStyle/>
          <a:p>
            <a:r>
              <a:rPr lang="en-IN" sz="2400" dirty="0"/>
              <a:t>By reducing safety-related disruptions and vehicle downtime, the system supports more continuous haulage and improves overall mine productivity.</a:t>
            </a:r>
          </a:p>
        </p:txBody>
      </p:sp>
      <p:pic>
        <p:nvPicPr>
          <p:cNvPr id="22" name="Picture 21">
            <a:extLst>
              <a:ext uri="{FF2B5EF4-FFF2-40B4-BE49-F238E27FC236}">
                <a16:creationId xmlns:a16="http://schemas.microsoft.com/office/drawing/2014/main" id="{296DB5FC-CE91-246D-1308-4D4B8DD1C462}"/>
              </a:ext>
            </a:extLst>
          </p:cNvPr>
          <p:cNvPicPr>
            <a:picLocks noChangeAspect="1"/>
          </p:cNvPicPr>
          <p:nvPr/>
        </p:nvPicPr>
        <p:blipFill>
          <a:blip r:embed="rId4"/>
          <a:stretch>
            <a:fillRect/>
          </a:stretch>
        </p:blipFill>
        <p:spPr>
          <a:xfrm>
            <a:off x="4167955" y="1300350"/>
            <a:ext cx="8157227" cy="1388751"/>
          </a:xfrm>
          <a:prstGeom prst="rect">
            <a:avLst/>
          </a:prstGeom>
        </p:spPr>
      </p:pic>
      <p:pic>
        <p:nvPicPr>
          <p:cNvPr id="24" name="Picture 23">
            <a:extLst>
              <a:ext uri="{FF2B5EF4-FFF2-40B4-BE49-F238E27FC236}">
                <a16:creationId xmlns:a16="http://schemas.microsoft.com/office/drawing/2014/main" id="{67AFA68A-9749-46A7-6769-B675BD480B20}"/>
              </a:ext>
            </a:extLst>
          </p:cNvPr>
          <p:cNvPicPr>
            <a:picLocks noChangeAspect="1"/>
          </p:cNvPicPr>
          <p:nvPr/>
        </p:nvPicPr>
        <p:blipFill>
          <a:blip r:embed="rId5"/>
          <a:stretch>
            <a:fillRect/>
          </a:stretch>
        </p:blipFill>
        <p:spPr>
          <a:xfrm>
            <a:off x="4219151" y="4526348"/>
            <a:ext cx="8106031" cy="1484583"/>
          </a:xfrm>
          <a:prstGeom prst="rect">
            <a:avLst/>
          </a:prstGeom>
        </p:spPr>
      </p:pic>
      <p:pic>
        <p:nvPicPr>
          <p:cNvPr id="4" name="Picture 3">
            <a:extLst>
              <a:ext uri="{FF2B5EF4-FFF2-40B4-BE49-F238E27FC236}">
                <a16:creationId xmlns:a16="http://schemas.microsoft.com/office/drawing/2014/main" id="{89796181-1A45-FD0A-413C-3A812EED96D6}"/>
              </a:ext>
            </a:extLst>
          </p:cNvPr>
          <p:cNvPicPr>
            <a:picLocks noChangeAspect="1"/>
          </p:cNvPicPr>
          <p:nvPr/>
        </p:nvPicPr>
        <p:blipFill>
          <a:blip r:embed="rId6"/>
          <a:stretch>
            <a:fillRect/>
          </a:stretch>
        </p:blipFill>
        <p:spPr>
          <a:xfrm>
            <a:off x="533221" y="246113"/>
            <a:ext cx="862960" cy="849262"/>
          </a:xfrm>
          <a:prstGeom prst="rect">
            <a:avLst/>
          </a:prstGeom>
        </p:spPr>
      </p:pic>
      <p:pic>
        <p:nvPicPr>
          <p:cNvPr id="3" name="Picture 2">
            <a:extLst>
              <a:ext uri="{FF2B5EF4-FFF2-40B4-BE49-F238E27FC236}">
                <a16:creationId xmlns:a16="http://schemas.microsoft.com/office/drawing/2014/main" id="{0641D253-3B16-7288-AF8A-23AB86A8D23E}"/>
              </a:ext>
            </a:extLst>
          </p:cNvPr>
          <p:cNvPicPr>
            <a:picLocks noChangeAspect="1"/>
          </p:cNvPicPr>
          <p:nvPr/>
        </p:nvPicPr>
        <p:blipFill>
          <a:blip r:embed="rId7"/>
          <a:stretch>
            <a:fillRect/>
          </a:stretch>
        </p:blipFill>
        <p:spPr>
          <a:xfrm>
            <a:off x="9785099" y="-47625"/>
            <a:ext cx="2406900" cy="1229275"/>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251546" y="1556704"/>
            <a:ext cx="8618384" cy="1200329"/>
          </a:xfrm>
          <a:prstGeom prst="rect">
            <a:avLst/>
          </a:prstGeom>
          <a:noFill/>
          <a:ln w="9525">
            <a:noFill/>
            <a:miter lim="800000"/>
            <a:headEnd/>
            <a:tailEnd/>
          </a:ln>
        </p:spPr>
        <p:txBody>
          <a:bodyPr wrap="square">
            <a:spAutoFit/>
          </a:bodyPr>
          <a:lstStyle/>
          <a:p>
            <a:pPr lvl="0" algn="just">
              <a:defRPr/>
            </a:pPr>
            <a:r>
              <a:rPr lang="en-IN" sz="2400" b="1" dirty="0"/>
              <a:t>V2V-LMM — Vehicle-to-Vehicle Communication</a:t>
            </a:r>
            <a:br>
              <a:rPr lang="en-IN" sz="2400" dirty="0"/>
            </a:br>
            <a:r>
              <a:rPr lang="en-IN" sz="2400" i="1" dirty="0"/>
              <a:t>Cooperative perception &amp; information sharing between vehicles</a:t>
            </a:r>
            <a:br>
              <a:rPr lang="en-IN" sz="2400" dirty="0"/>
            </a:br>
            <a:r>
              <a:rPr lang="en-IN" sz="2400" dirty="0"/>
              <a:t>🔗 </a:t>
            </a:r>
            <a:r>
              <a:rPr lang="en-IN" sz="2400" dirty="0">
                <a:hlinkClick r:id="rId3"/>
              </a:rPr>
              <a:t>https://eddyhkchiu.github.io/v2vllm.github.io/</a:t>
            </a:r>
            <a:endParaRPr kumimoji="0" lang="en-US" sz="24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028DFC4A-FCFD-35CB-DE92-F528DB953A61}"/>
              </a:ext>
            </a:extLst>
          </p:cNvPr>
          <p:cNvSpPr txBox="1"/>
          <p:nvPr/>
        </p:nvSpPr>
        <p:spPr>
          <a:xfrm>
            <a:off x="251546" y="3038166"/>
            <a:ext cx="11233140" cy="1200329"/>
          </a:xfrm>
          <a:prstGeom prst="rect">
            <a:avLst/>
          </a:prstGeom>
          <a:noFill/>
        </p:spPr>
        <p:txBody>
          <a:bodyPr wrap="none" rtlCol="0">
            <a:spAutoFit/>
          </a:bodyPr>
          <a:lstStyle/>
          <a:p>
            <a:r>
              <a:rPr lang="en-IN" sz="2400" b="1" dirty="0"/>
              <a:t>A Comparative Survey of V2V Communication Technologies: DSRC, Wi-Fi, LoRa and VLC</a:t>
            </a:r>
            <a:br>
              <a:rPr lang="en-IN" dirty="0"/>
            </a:br>
            <a:r>
              <a:rPr lang="en-IN" sz="2400" dirty="0"/>
              <a:t>🔗 </a:t>
            </a:r>
            <a:r>
              <a:rPr lang="en-IN" sz="2400" dirty="0">
                <a:hlinkClick r:id="rId4"/>
              </a:rPr>
              <a:t>https://ieeexplore.ieee.org/stamp/stamp.jsp?tp=&amp;arnumber=11448776/</a:t>
            </a:r>
            <a:endParaRPr lang="en-IN" sz="2400" dirty="0"/>
          </a:p>
          <a:p>
            <a:endParaRPr lang="en-IN" sz="2400" dirty="0"/>
          </a:p>
        </p:txBody>
      </p:sp>
      <p:sp>
        <p:nvSpPr>
          <p:cNvPr id="5" name="TextBox 4">
            <a:extLst>
              <a:ext uri="{FF2B5EF4-FFF2-40B4-BE49-F238E27FC236}">
                <a16:creationId xmlns:a16="http://schemas.microsoft.com/office/drawing/2014/main" id="{978EA222-E6D5-C1B7-6DB9-A4A12E750A55}"/>
              </a:ext>
            </a:extLst>
          </p:cNvPr>
          <p:cNvSpPr txBox="1"/>
          <p:nvPr/>
        </p:nvSpPr>
        <p:spPr>
          <a:xfrm>
            <a:off x="251546" y="4052287"/>
            <a:ext cx="9783097" cy="1569660"/>
          </a:xfrm>
          <a:prstGeom prst="rect">
            <a:avLst/>
          </a:prstGeom>
          <a:noFill/>
        </p:spPr>
        <p:txBody>
          <a:bodyPr wrap="square" rtlCol="0">
            <a:spAutoFit/>
          </a:bodyPr>
          <a:lstStyle/>
          <a:p>
            <a:r>
              <a:rPr lang="en-IN" sz="2400" b="1" dirty="0"/>
              <a:t>Which runs its YOLO model locally on a Jetson to avoid cloud dependency in low-connectivity field settings</a:t>
            </a:r>
          </a:p>
          <a:p>
            <a:r>
              <a:rPr lang="en-IN" sz="2400" dirty="0"/>
              <a:t>🔗 </a:t>
            </a:r>
            <a:r>
              <a:rPr lang="en-IN" sz="2400" dirty="0">
                <a:hlinkClick r:id="rId5"/>
              </a:rPr>
              <a:t>https://ieeexplore.ieee.org/stamp/stamp.jsp?tp=&amp;arnumber=11604261/</a:t>
            </a:r>
            <a:endParaRPr lang="en-IN" sz="2400" dirty="0"/>
          </a:p>
          <a:p>
            <a:endParaRPr lang="en-IN" sz="2400" b="1" dirty="0"/>
          </a:p>
        </p:txBody>
      </p:sp>
      <p:pic>
        <p:nvPicPr>
          <p:cNvPr id="8" name="Picture 7">
            <a:extLst>
              <a:ext uri="{FF2B5EF4-FFF2-40B4-BE49-F238E27FC236}">
                <a16:creationId xmlns:a16="http://schemas.microsoft.com/office/drawing/2014/main" id="{02D0B7FE-C6F0-111A-F77C-E367D3E449F3}"/>
              </a:ext>
            </a:extLst>
          </p:cNvPr>
          <p:cNvPicPr>
            <a:picLocks noChangeAspect="1"/>
          </p:cNvPicPr>
          <p:nvPr/>
        </p:nvPicPr>
        <p:blipFill>
          <a:blip r:embed="rId6"/>
          <a:stretch>
            <a:fillRect/>
          </a:stretch>
        </p:blipFill>
        <p:spPr>
          <a:xfrm>
            <a:off x="533221" y="246113"/>
            <a:ext cx="862960" cy="849262"/>
          </a:xfrm>
          <a:prstGeom prst="rect">
            <a:avLst/>
          </a:prstGeom>
        </p:spPr>
      </p:pic>
      <p:pic>
        <p:nvPicPr>
          <p:cNvPr id="3" name="Picture 2">
            <a:extLst>
              <a:ext uri="{FF2B5EF4-FFF2-40B4-BE49-F238E27FC236}">
                <a16:creationId xmlns:a16="http://schemas.microsoft.com/office/drawing/2014/main" id="{45A2256A-58A9-3B97-994C-876EDFF634DC}"/>
              </a:ext>
            </a:extLst>
          </p:cNvPr>
          <p:cNvPicPr>
            <a:picLocks noChangeAspect="1"/>
          </p:cNvPicPr>
          <p:nvPr/>
        </p:nvPicPr>
        <p:blipFill>
          <a:blip r:embed="rId7"/>
          <a:stretch>
            <a:fillRect/>
          </a:stretch>
        </p:blipFill>
        <p:spPr>
          <a:xfrm>
            <a:off x="9700019" y="41275"/>
            <a:ext cx="2406900" cy="1229275"/>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7910</TotalTime>
  <Words>518</Words>
  <Application>Microsoft Office PowerPoint</Application>
  <PresentationFormat>Widescreen</PresentationFormat>
  <Paragraphs>59</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2025</vt:lpstr>
      <vt:lpstr>  SMYGN32: V2V-Enabled Collision and Trajectory Risk Assessment for Safe Mine Vehicle Operation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Sujay K</cp:lastModifiedBy>
  <cp:revision>155</cp:revision>
  <cp:lastPrinted>2026-09-04T22:35:37Z</cp:lastPrinted>
  <dcterms:created xsi:type="dcterms:W3CDTF">2013-12-12T18:46:50Z</dcterms:created>
  <dcterms:modified xsi:type="dcterms:W3CDTF">2026-09-05T01:07:07Z</dcterms:modified>
  <cp:category/>
</cp:coreProperties>
</file>